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1" r:id="rId4"/>
    <p:sldId id="263" r:id="rId5"/>
    <p:sldId id="262" r:id="rId6"/>
    <p:sldId id="296" r:id="rId7"/>
    <p:sldId id="295" r:id="rId8"/>
    <p:sldId id="278" r:id="rId9"/>
  </p:sldIdLst>
  <p:sldSz cx="9144000" cy="5143500" type="screen16x9"/>
  <p:notesSz cx="6858000" cy="9144000"/>
  <p:embeddedFontLst>
    <p:embeddedFont>
      <p:font typeface="Dosis" panose="020B0604020202020204" pitchFamily="2" charset="0"/>
      <p:regular r:id="rId11"/>
      <p:bold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Stencil" panose="040409050D0802020404" pitchFamily="82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57B9CE-27B7-45A4-9341-B09BDB51A24E}">
  <a:tblStyle styleId="{AF57B9CE-27B7-45A4-9341-B09BDB51A2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091BD0C-065F-43EE-8344-79AE29CD5F3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05318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9966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22222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1025" y="-11025"/>
            <a:ext cx="9144000" cy="5143500"/>
          </a:xfrm>
          <a:prstGeom prst="rect">
            <a:avLst/>
          </a:prstGeom>
          <a:solidFill>
            <a:srgbClr val="222222">
              <a:alpha val="64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086350" y="-38100"/>
            <a:ext cx="4114800" cy="5219700"/>
          </a:xfrm>
          <a:custGeom>
            <a:avLst/>
            <a:gdLst/>
            <a:ahLst/>
            <a:cxnLst/>
            <a:rect l="l" t="t" r="r" b="b"/>
            <a:pathLst>
              <a:path w="164592" h="208788" extrusionOk="0">
                <a:moveTo>
                  <a:pt x="0" y="1524"/>
                </a:moveTo>
                <a:lnTo>
                  <a:pt x="107442" y="208788"/>
                </a:lnTo>
                <a:lnTo>
                  <a:pt x="164592" y="208788"/>
                </a:lnTo>
                <a:lnTo>
                  <a:pt x="1645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 flipH="1">
            <a:off x="-418950" y="4394400"/>
            <a:ext cx="8172300" cy="749100"/>
          </a:xfrm>
          <a:prstGeom prst="parallelogram">
            <a:avLst>
              <a:gd name="adj" fmla="val 51542"/>
            </a:avLst>
          </a:prstGeom>
          <a:solidFill>
            <a:srgbClr val="FFFFFF">
              <a:alpha val="176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3" name="Google Shape;13;p2"/>
          <p:cNvSpPr/>
          <p:nvPr/>
        </p:nvSpPr>
        <p:spPr>
          <a:xfrm flipH="1">
            <a:off x="1028475" y="4166400"/>
            <a:ext cx="8369700" cy="228000"/>
          </a:xfrm>
          <a:prstGeom prst="parallelogram">
            <a:avLst>
              <a:gd name="adj" fmla="val 5154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28475" y="0"/>
            <a:ext cx="5238600" cy="402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-903537" y="-38100"/>
            <a:ext cx="10524355" cy="5214650"/>
            <a:chOff x="-903537" y="-38100"/>
            <a:chExt cx="10524355" cy="5214650"/>
          </a:xfrm>
        </p:grpSpPr>
        <p:sp>
          <p:nvSpPr>
            <p:cNvPr id="32" name="Google Shape;32;p5"/>
            <p:cNvSpPr/>
            <p:nvPr/>
          </p:nvSpPr>
          <p:spPr>
            <a:xfrm>
              <a:off x="-55075" y="-38100"/>
              <a:ext cx="3312625" cy="5214650"/>
            </a:xfrm>
            <a:custGeom>
              <a:avLst/>
              <a:gdLst/>
              <a:ahLst/>
              <a:cxnLst/>
              <a:rect l="l" t="t" r="r" b="b"/>
              <a:pathLst>
                <a:path w="132505" h="208586" extrusionOk="0">
                  <a:moveTo>
                    <a:pt x="132505" y="207264"/>
                  </a:moveTo>
                  <a:lnTo>
                    <a:pt x="25063" y="0"/>
                  </a:lnTo>
                  <a:lnTo>
                    <a:pt x="0" y="202"/>
                  </a:lnTo>
                  <a:lnTo>
                    <a:pt x="1322" y="2085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3" name="Google Shape;33;p5"/>
            <p:cNvSpPr/>
            <p:nvPr/>
          </p:nvSpPr>
          <p:spPr>
            <a:xfrm flipH="1">
              <a:off x="-903537" y="-17561"/>
              <a:ext cx="1759200" cy="74910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472134" y="-9525"/>
              <a:ext cx="518400" cy="749100"/>
            </a:xfrm>
            <a:prstGeom prst="parallelogram">
              <a:avLst>
                <a:gd name="adj" fmla="val 7500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flipH="1">
              <a:off x="742953" y="272850"/>
              <a:ext cx="7505700" cy="74910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flipH="1">
              <a:off x="7861618" y="272850"/>
              <a:ext cx="1759200" cy="74910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 flipH="1">
              <a:off x="990375" y="4925850"/>
              <a:ext cx="8369700" cy="22800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1104900" y="1277625"/>
            <a:ext cx="7581900" cy="36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▸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▹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6"/>
          <p:cNvGrpSpPr/>
          <p:nvPr/>
        </p:nvGrpSpPr>
        <p:grpSpPr>
          <a:xfrm>
            <a:off x="-903537" y="-38100"/>
            <a:ext cx="10524355" cy="5214650"/>
            <a:chOff x="-903537" y="-38100"/>
            <a:chExt cx="10524355" cy="5214650"/>
          </a:xfrm>
        </p:grpSpPr>
        <p:sp>
          <p:nvSpPr>
            <p:cNvPr id="43" name="Google Shape;43;p6"/>
            <p:cNvSpPr/>
            <p:nvPr/>
          </p:nvSpPr>
          <p:spPr>
            <a:xfrm>
              <a:off x="-55075" y="-38100"/>
              <a:ext cx="3312625" cy="5214650"/>
            </a:xfrm>
            <a:custGeom>
              <a:avLst/>
              <a:gdLst/>
              <a:ahLst/>
              <a:cxnLst/>
              <a:rect l="l" t="t" r="r" b="b"/>
              <a:pathLst>
                <a:path w="132505" h="208586" extrusionOk="0">
                  <a:moveTo>
                    <a:pt x="132505" y="207264"/>
                  </a:moveTo>
                  <a:lnTo>
                    <a:pt x="25063" y="0"/>
                  </a:lnTo>
                  <a:lnTo>
                    <a:pt x="0" y="202"/>
                  </a:lnTo>
                  <a:lnTo>
                    <a:pt x="1322" y="2085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4" name="Google Shape;44;p6"/>
            <p:cNvSpPr/>
            <p:nvPr/>
          </p:nvSpPr>
          <p:spPr>
            <a:xfrm flipH="1">
              <a:off x="-903537" y="-17561"/>
              <a:ext cx="1759200" cy="74910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 flipH="1">
              <a:off x="472134" y="-9525"/>
              <a:ext cx="518400" cy="749100"/>
            </a:xfrm>
            <a:prstGeom prst="parallelogram">
              <a:avLst>
                <a:gd name="adj" fmla="val 7500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742953" y="272850"/>
              <a:ext cx="7505700" cy="74910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7861618" y="272850"/>
              <a:ext cx="1759200" cy="74910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flipH="1">
              <a:off x="990375" y="4925850"/>
              <a:ext cx="8369700" cy="22800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1101386" y="272850"/>
            <a:ext cx="75744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1101375" y="1311550"/>
            <a:ext cx="36819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▸"/>
              <a:defRPr sz="2600"/>
            </a:lvl1pPr>
            <a:lvl2pPr marL="914400" lvl="1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2pPr>
            <a:lvl3pPr marL="1371600" lvl="2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3pPr>
            <a:lvl4pPr marL="1828800" lvl="3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4pPr>
            <a:lvl5pPr marL="2286000" lvl="4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5pPr>
            <a:lvl6pPr marL="2743200" lvl="5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6pPr>
            <a:lvl7pPr marL="3200400" lvl="6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7pPr>
            <a:lvl8pPr marL="3657600" lvl="7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5004949" y="1311550"/>
            <a:ext cx="36819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▸"/>
              <a:defRPr sz="2600"/>
            </a:lvl1pPr>
            <a:lvl2pPr marL="914400" lvl="1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2pPr>
            <a:lvl3pPr marL="1371600" lvl="2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3pPr>
            <a:lvl4pPr marL="1828800" lvl="3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4pPr>
            <a:lvl5pPr marL="2286000" lvl="4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5pPr>
            <a:lvl6pPr marL="2743200" lvl="5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6pPr>
            <a:lvl7pPr marL="3200400" lvl="6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7pPr>
            <a:lvl8pPr marL="3657600" lvl="7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inverted">
  <p:cSld name="BLANK_1">
    <p:bg>
      <p:bgPr>
        <a:solidFill>
          <a:schemeClr val="dk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/>
          <p:nvPr/>
        </p:nvSpPr>
        <p:spPr>
          <a:xfrm>
            <a:off x="-55075" y="-38100"/>
            <a:ext cx="3312625" cy="5214650"/>
          </a:xfrm>
          <a:custGeom>
            <a:avLst/>
            <a:gdLst/>
            <a:ahLst/>
            <a:cxnLst/>
            <a:rect l="l" t="t" r="r" b="b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 flipH="1">
            <a:off x="-903537" y="-17561"/>
            <a:ext cx="1759200" cy="749100"/>
          </a:xfrm>
          <a:prstGeom prst="parallelogram">
            <a:avLst>
              <a:gd name="adj" fmla="val 5154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2"/>
          <p:cNvSpPr/>
          <p:nvPr/>
        </p:nvSpPr>
        <p:spPr>
          <a:xfrm flipH="1">
            <a:off x="472134" y="-9525"/>
            <a:ext cx="518400" cy="749100"/>
          </a:xfrm>
          <a:prstGeom prst="parallelogram">
            <a:avLst>
              <a:gd name="adj" fmla="val 7500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2"/>
          <p:cNvSpPr/>
          <p:nvPr/>
        </p:nvSpPr>
        <p:spPr>
          <a:xfrm flipH="1">
            <a:off x="990375" y="4925850"/>
            <a:ext cx="8369700" cy="228000"/>
          </a:xfrm>
          <a:prstGeom prst="parallelogram">
            <a:avLst>
              <a:gd name="adj" fmla="val 5154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04900" y="1200150"/>
            <a:ext cx="75819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"/>
              <a:buChar char="▸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Roboto"/>
              <a:buChar char="▹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"/>
              <a:buChar char="▹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buNone/>
              <a:defRPr sz="13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8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>
            <a:spLocks noGrp="1"/>
          </p:cNvSpPr>
          <p:nvPr>
            <p:ph type="ctrTitle"/>
          </p:nvPr>
        </p:nvSpPr>
        <p:spPr>
          <a:xfrm>
            <a:off x="1421633" y="864516"/>
            <a:ext cx="5238600" cy="27443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b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QUANTAM</a:t>
            </a:r>
            <a:r>
              <a:rPr lang="e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endParaRPr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D4D1A2-A3E4-4774-BD14-9C63E373E26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660233" y="175267"/>
            <a:ext cx="1944216" cy="16764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D7B989-70B0-4C0D-81BA-F5B88D362A1C}"/>
              </a:ext>
            </a:extLst>
          </p:cNvPr>
          <p:cNvSpPr txBox="1"/>
          <p:nvPr/>
        </p:nvSpPr>
        <p:spPr>
          <a:xfrm>
            <a:off x="467544" y="602906"/>
            <a:ext cx="5062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MSC.(CS) – I     2021-22</a:t>
            </a:r>
            <a:endParaRPr lang="en-IN" sz="2800" dirty="0">
              <a:solidFill>
                <a:srgbClr val="FFFF00"/>
              </a:solidFill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94BEF6-3699-40E5-8073-561233DC59AB}"/>
              </a:ext>
            </a:extLst>
          </p:cNvPr>
          <p:cNvSpPr txBox="1"/>
          <p:nvPr/>
        </p:nvSpPr>
        <p:spPr>
          <a:xfrm>
            <a:off x="3059833" y="4495159"/>
            <a:ext cx="3285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AKASH JONGHALE  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175B3-5210-4831-AB41-C651688EE90D}"/>
              </a:ext>
            </a:extLst>
          </p:cNvPr>
          <p:cNvSpPr txBox="1"/>
          <p:nvPr/>
        </p:nvSpPr>
        <p:spPr>
          <a:xfrm>
            <a:off x="251520" y="4490829"/>
            <a:ext cx="3631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BY :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AC01F-739C-4BD8-B5AE-2A19B6D6B37D}"/>
              </a:ext>
            </a:extLst>
          </p:cNvPr>
          <p:cNvSpPr txBox="1"/>
          <p:nvPr/>
        </p:nvSpPr>
        <p:spPr>
          <a:xfrm>
            <a:off x="6084168" y="4495159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PRATHAMESH SHETE</a:t>
            </a:r>
            <a:endParaRPr lang="en-IN" sz="20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>
            <a:spLocks noGrp="1"/>
          </p:cNvSpPr>
          <p:nvPr>
            <p:ph type="title"/>
          </p:nvPr>
        </p:nvSpPr>
        <p:spPr>
          <a:xfrm>
            <a:off x="1101386" y="272850"/>
            <a:ext cx="75744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4"/>
          <p:cNvSpPr txBox="1">
            <a:spLocks noGrp="1"/>
          </p:cNvSpPr>
          <p:nvPr>
            <p:ph type="body" idx="2"/>
          </p:nvPr>
        </p:nvSpPr>
        <p:spPr>
          <a:xfrm>
            <a:off x="1101375" y="1349549"/>
            <a:ext cx="3481200" cy="23705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computing is a modern way of computing that is based on the 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 of quantum mechanics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its unbelievable phenomena. It is a beautiful combination of physics, mathematics, computer science and information theory.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Google Shape;117;p14"/>
          <p:cNvSpPr txBox="1">
            <a:spLocks noGrp="1"/>
          </p:cNvSpPr>
          <p:nvPr>
            <p:ph type="body" idx="2"/>
          </p:nvPr>
        </p:nvSpPr>
        <p:spPr>
          <a:xfrm>
            <a:off x="1101375" y="3829725"/>
            <a:ext cx="7585500" cy="8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>
          <a:xfrm>
            <a:off x="5148065" y="1131590"/>
            <a:ext cx="3538784" cy="3717860"/>
          </a:xfrm>
        </p:spPr>
        <p:txBody>
          <a:bodyPr/>
          <a:lstStyle/>
          <a:p>
            <a:pPr marL="635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229" y="1128747"/>
            <a:ext cx="3528392" cy="37150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Quantam Computing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1"/>
          </p:nvPr>
        </p:nvSpPr>
        <p:spPr>
          <a:xfrm>
            <a:off x="1104900" y="1277625"/>
            <a:ext cx="7581900" cy="36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everyday analog computing is limited to having a single value of either 0 or 1 for each bit, quantum computing uses quantum bits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qubits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are simultaneously in both states (0 and 1) at the same time.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consequence of this superposition, as it’s called, is that quantum computers are able to test every solution of a problem at once. Further, because of this exponential relationship, such computers should be able to double their quantum computing power with each additional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qubit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>
            <a:spLocks noGrp="1"/>
          </p:cNvSpPr>
          <p:nvPr>
            <p:ph type="body" idx="1"/>
          </p:nvPr>
        </p:nvSpPr>
        <p:spPr>
          <a:xfrm>
            <a:off x="1101375" y="1311550"/>
            <a:ext cx="36819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computer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Quantum Computer, on the other hand, “Quantum Bit” or “Qubit” instead of bit.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qubit also makes use of two states (0 and 1) to hold information but in contrast to a bit, In this state, a qubit can take on the properties of 0 and 1 simultaneously at any one moment</a:t>
            </a:r>
            <a:r>
              <a:rPr lang="e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I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According, two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qubits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this state can express the four values of 00, 01, 10, and 11 all at one time</a:t>
            </a:r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Google Shape;170;p20"/>
          <p:cNvSpPr txBox="1">
            <a:spLocks noGrp="1"/>
          </p:cNvSpPr>
          <p:nvPr>
            <p:ph type="title"/>
          </p:nvPr>
        </p:nvSpPr>
        <p:spPr>
          <a:xfrm>
            <a:off x="1101386" y="272850"/>
            <a:ext cx="75744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 Of Quantum Computer &amp; Existing Computer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Google Shape;171;p20"/>
          <p:cNvSpPr txBox="1">
            <a:spLocks noGrp="1"/>
          </p:cNvSpPr>
          <p:nvPr>
            <p:ph type="body" idx="2"/>
          </p:nvPr>
        </p:nvSpPr>
        <p:spPr>
          <a:xfrm>
            <a:off x="5004949" y="1311550"/>
            <a:ext cx="36819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Computer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existing computers, all information is expreesed in terms of 0s and 1s and the entity that carries such information is called a “bit”.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bit can be in either a 0 or 1 state at any one moment in time.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F3E2-FB5C-4F34-BEC2-5D9778D72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D2A2A-E56D-45BE-A805-7E7F36C8B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9592" y="1131590"/>
            <a:ext cx="7787208" cy="3794335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solve scientific and commercial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data in a much faster speed.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 to convey more accurate answers.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can be computed in less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used to protect secure Web pages, encrypted email and many other types of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7BC27-93A0-4F94-A18B-B09D4C133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26EDF-C554-4E07-85E8-C034B49DD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576" y="1131590"/>
            <a:ext cx="7931224" cy="3794335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Lots of heat.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build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to word processing and email.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of it need of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 &amp; cool environment.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hardware schemes like superconductors.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522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F3E2-FB5C-4F34-BEC2-5D9778D72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D2A2A-E56D-45BE-A805-7E7F36C8B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600" y="1131590"/>
            <a:ext cx="7715200" cy="379433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Technology.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Ultra-secure and Super-dense communications.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error correction and error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Molecular simulation.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Factorizations.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problem &amp; Quantum chemistry problem.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599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5"/>
          <p:cNvSpPr txBox="1">
            <a:spLocks noGrp="1"/>
          </p:cNvSpPr>
          <p:nvPr>
            <p:ph type="ctrTitle" idx="4294967295"/>
          </p:nvPr>
        </p:nvSpPr>
        <p:spPr>
          <a:xfrm>
            <a:off x="2339752" y="561975"/>
            <a:ext cx="5238750" cy="40195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THANKS!</a:t>
            </a:r>
            <a:endParaRPr sz="6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lliam template">
  <a:themeElements>
    <a:clrScheme name="Custom 347">
      <a:dk1>
        <a:srgbClr val="222222"/>
      </a:dk1>
      <a:lt1>
        <a:srgbClr val="FFFFFF"/>
      </a:lt1>
      <a:dk2>
        <a:srgbClr val="666666"/>
      </a:dk2>
      <a:lt2>
        <a:srgbClr val="F3F3F3"/>
      </a:lt2>
      <a:accent1>
        <a:srgbClr val="FF8700"/>
      </a:accent1>
      <a:accent2>
        <a:srgbClr val="FFB840"/>
      </a:accent2>
      <a:accent3>
        <a:srgbClr val="333333"/>
      </a:accent3>
      <a:accent4>
        <a:srgbClr val="9B9796"/>
      </a:accent4>
      <a:accent5>
        <a:srgbClr val="C9C3BD"/>
      </a:accent5>
      <a:accent6>
        <a:srgbClr val="96C94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424</Words>
  <Application>Microsoft Office PowerPoint</Application>
  <PresentationFormat>On-screen Show (16:9)</PresentationFormat>
  <Paragraphs>45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Dosis</vt:lpstr>
      <vt:lpstr>Arial</vt:lpstr>
      <vt:lpstr>Times New Roman</vt:lpstr>
      <vt:lpstr>Roboto</vt:lpstr>
      <vt:lpstr>Stencil</vt:lpstr>
      <vt:lpstr>William template</vt:lpstr>
      <vt:lpstr> QUANTAM  COMPUTING</vt:lpstr>
      <vt:lpstr>Introduction </vt:lpstr>
      <vt:lpstr>What Is Quantam Computing</vt:lpstr>
      <vt:lpstr>Basic Concept Of Quantum Computer &amp; Existing Computer</vt:lpstr>
      <vt:lpstr>Advantages </vt:lpstr>
      <vt:lpstr>Disadvantages </vt:lpstr>
      <vt:lpstr>Applications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QUANTAM  COMPUTING</dc:title>
  <dc:creator>Akash</dc:creator>
  <cp:lastModifiedBy>Prathmesh</cp:lastModifiedBy>
  <cp:revision>10</cp:revision>
  <dcterms:modified xsi:type="dcterms:W3CDTF">2022-01-11T23:50:29Z</dcterms:modified>
</cp:coreProperties>
</file>